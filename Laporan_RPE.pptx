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orizon" charset="1" panose="02000500000000000000"/>
      <p:regular r:id="rId14"/>
    </p:embeddedFont>
    <p:embeddedFont>
      <p:font typeface="Space Mono" charset="1" panose="02000509040000020004"/>
      <p:regular r:id="rId15"/>
    </p:embeddedFont>
    <p:embeddedFont>
      <p:font typeface="Space Mono Bold" charset="1" panose="0200080903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3.png" Type="http://schemas.openxmlformats.org/officeDocument/2006/relationships/image"/><Relationship Id="rId13" Target="../media/image6.png" Type="http://schemas.openxmlformats.org/officeDocument/2006/relationships/image"/><Relationship Id="rId14" Target="../media/image7.png" Type="http://schemas.openxmlformats.org/officeDocument/2006/relationships/image"/><Relationship Id="rId15" Target="../media/image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30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8.png" Type="http://schemas.openxmlformats.org/officeDocument/2006/relationships/image"/><Relationship Id="rId7" Target="../media/image29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5795493"/>
            <a:ext cx="18640482" cy="5313832"/>
            <a:chOff x="0" y="0"/>
            <a:chExt cx="24853976" cy="7085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282649" y="-243929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3" y="0"/>
                </a:lnTo>
                <a:lnTo>
                  <a:pt x="12768123" y="10769404"/>
                </a:lnTo>
                <a:lnTo>
                  <a:pt x="0" y="10769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</a:blip>
            <a:stretch>
              <a:fillRect l="0" t="-7393" r="0" b="-11165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-3834046" y="4891969"/>
            <a:ext cx="10663609" cy="126454"/>
            <a:chOff x="0" y="0"/>
            <a:chExt cx="48193587" cy="57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55270"/>
              <a:ext cx="48193585" cy="69850"/>
            </a:xfrm>
            <a:custGeom>
              <a:avLst/>
              <a:gdLst/>
              <a:ahLst/>
              <a:cxnLst/>
              <a:rect r="r" b="b" t="t" l="l"/>
              <a:pathLst>
                <a:path h="69850" w="48193585">
                  <a:moveTo>
                    <a:pt x="47902757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193585" y="69850"/>
                  </a:lnTo>
                  <a:lnTo>
                    <a:pt x="4819358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585716" y="1194545"/>
            <a:ext cx="6192351" cy="5223002"/>
          </a:xfrm>
          <a:custGeom>
            <a:avLst/>
            <a:gdLst/>
            <a:ahLst/>
            <a:cxnLst/>
            <a:rect r="r" b="b" t="t" l="l"/>
            <a:pathLst>
              <a:path h="5223002" w="6192351">
                <a:moveTo>
                  <a:pt x="0" y="0"/>
                </a:moveTo>
                <a:lnTo>
                  <a:pt x="6192351" y="0"/>
                </a:lnTo>
                <a:lnTo>
                  <a:pt x="6192351" y="5223001"/>
                </a:lnTo>
                <a:lnTo>
                  <a:pt x="0" y="5223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1000"/>
            </a:blip>
            <a:stretch>
              <a:fillRect l="0" t="-7393" r="0" b="-1116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005857" y="3132231"/>
            <a:ext cx="1738434" cy="1879851"/>
            <a:chOff x="0" y="0"/>
            <a:chExt cx="2317912" cy="25064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99700" y="0"/>
              <a:ext cx="1575755" cy="1355149"/>
            </a:xfrm>
            <a:custGeom>
              <a:avLst/>
              <a:gdLst/>
              <a:ahLst/>
              <a:cxnLst/>
              <a:rect r="r" b="b" t="t" l="l"/>
              <a:pathLst>
                <a:path h="1355149" w="1575755">
                  <a:moveTo>
                    <a:pt x="0" y="0"/>
                  </a:moveTo>
                  <a:lnTo>
                    <a:pt x="1575755" y="0"/>
                  </a:lnTo>
                  <a:lnTo>
                    <a:pt x="1575755" y="1355149"/>
                  </a:lnTo>
                  <a:lnTo>
                    <a:pt x="0" y="1355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241422"/>
              <a:ext cx="958769" cy="824541"/>
            </a:xfrm>
            <a:custGeom>
              <a:avLst/>
              <a:gdLst/>
              <a:ahLst/>
              <a:cxnLst/>
              <a:rect r="r" b="b" t="t" l="l"/>
              <a:pathLst>
                <a:path h="824541" w="958769">
                  <a:moveTo>
                    <a:pt x="0" y="0"/>
                  </a:moveTo>
                  <a:lnTo>
                    <a:pt x="958769" y="0"/>
                  </a:lnTo>
                  <a:lnTo>
                    <a:pt x="958769" y="824541"/>
                  </a:lnTo>
                  <a:lnTo>
                    <a:pt x="0" y="824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18212" y="1990726"/>
              <a:ext cx="599700" cy="515742"/>
            </a:xfrm>
            <a:custGeom>
              <a:avLst/>
              <a:gdLst/>
              <a:ahLst/>
              <a:cxnLst/>
              <a:rect r="r" b="b" t="t" l="l"/>
              <a:pathLst>
                <a:path h="515742" w="599700">
                  <a:moveTo>
                    <a:pt x="0" y="0"/>
                  </a:moveTo>
                  <a:lnTo>
                    <a:pt x="599700" y="0"/>
                  </a:lnTo>
                  <a:lnTo>
                    <a:pt x="599700" y="515742"/>
                  </a:lnTo>
                  <a:lnTo>
                    <a:pt x="0" y="515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5755" y="1355149"/>
              <a:ext cx="442307" cy="380384"/>
            </a:xfrm>
            <a:custGeom>
              <a:avLst/>
              <a:gdLst/>
              <a:ahLst/>
              <a:cxnLst/>
              <a:rect r="r" b="b" t="t" l="l"/>
              <a:pathLst>
                <a:path h="380384" w="442307">
                  <a:moveTo>
                    <a:pt x="0" y="0"/>
                  </a:moveTo>
                  <a:lnTo>
                    <a:pt x="442307" y="0"/>
                  </a:lnTo>
                  <a:lnTo>
                    <a:pt x="442307" y="380384"/>
                  </a:lnTo>
                  <a:lnTo>
                    <a:pt x="0" y="380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87727" y="1780485"/>
              <a:ext cx="299850" cy="257871"/>
            </a:xfrm>
            <a:custGeom>
              <a:avLst/>
              <a:gdLst/>
              <a:ahLst/>
              <a:cxnLst/>
              <a:rect r="r" b="b" t="t" l="l"/>
              <a:pathLst>
                <a:path h="257871" w="299850">
                  <a:moveTo>
                    <a:pt x="0" y="0"/>
                  </a:moveTo>
                  <a:lnTo>
                    <a:pt x="299850" y="0"/>
                  </a:lnTo>
                  <a:lnTo>
                    <a:pt x="299850" y="257871"/>
                  </a:lnTo>
                  <a:lnTo>
                    <a:pt x="0" y="25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031497" y="4292502"/>
            <a:ext cx="13878986" cy="21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spc="36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SISTEM PENDETE</a:t>
            </a:r>
            <a:r>
              <a:rPr lang="en-US" b="true" sz="3999" spc="36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KSI RPE 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b="true" sz="3999" spc="367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TENAGA MANUSIA BERBASIS IOT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5747868"/>
            <a:ext cx="844732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20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KELOMPOK 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31497" y="4024532"/>
            <a:ext cx="844732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20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PIRANTI CERDAS 5D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275708"/>
            <a:ext cx="844732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20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TRICAHYO DIQOLBU -</a:t>
            </a:r>
            <a:r>
              <a:rPr lang="en-US" sz="2199" spc="20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202310370311309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1610353"/>
            <a:ext cx="844732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20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AKHMADANI BAHAILLAH - 202310370311342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834046" y="4891969"/>
            <a:ext cx="10663609" cy="126454"/>
            <a:chOff x="0" y="0"/>
            <a:chExt cx="4819358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48193585" cy="69850"/>
            </a:xfrm>
            <a:custGeom>
              <a:avLst/>
              <a:gdLst/>
              <a:ahLst/>
              <a:cxnLst/>
              <a:rect r="r" b="b" t="t" l="l"/>
              <a:pathLst>
                <a:path h="69850" w="48193585">
                  <a:moveTo>
                    <a:pt x="47902757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193585" y="69850"/>
                  </a:lnTo>
                  <a:lnTo>
                    <a:pt x="4819358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17621" y="1287133"/>
            <a:ext cx="5676736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386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LATAR BELAKANG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7621" y="3008312"/>
            <a:ext cx="13985896" cy="35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2799" spc="148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Pengukuran RPE (Rating of Perceived Exertion) manual bersifat subjektif dan sering tidak akurat. Atlet dapat salah menilai intensitas latihan sehingga berisiko cedera. Selain itu , Lansia pun sulit menilai beban aktivitas dan rawan kelelahan. Karena itu, diperlukan sistem otomatis yang memberikan pengukuran intensitas secara objektif.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58153" y="-5384702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4"/>
                </a:lnTo>
                <a:lnTo>
                  <a:pt x="0" y="1076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-7393" r="0" b="-1116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84062" y="4692739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5"/>
                </a:lnTo>
                <a:lnTo>
                  <a:pt x="0" y="10769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0" t="-7393" r="0" b="-11165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-176241" y="5909212"/>
            <a:ext cx="18640482" cy="5313832"/>
            <a:chOff x="0" y="0"/>
            <a:chExt cx="24853976" cy="70851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36077" y="6740902"/>
            <a:ext cx="8748984" cy="3336539"/>
            <a:chOff x="0" y="0"/>
            <a:chExt cx="11665312" cy="4448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029020"/>
              <a:ext cx="2204889" cy="2238718"/>
            </a:xfrm>
            <a:custGeom>
              <a:avLst/>
              <a:gdLst/>
              <a:ahLst/>
              <a:cxnLst/>
              <a:rect r="r" b="b" t="t" l="l"/>
              <a:pathLst>
                <a:path h="2238718" w="2204889">
                  <a:moveTo>
                    <a:pt x="0" y="0"/>
                  </a:moveTo>
                  <a:lnTo>
                    <a:pt x="2204889" y="0"/>
                  </a:lnTo>
                  <a:lnTo>
                    <a:pt x="2204889" y="2238718"/>
                  </a:lnTo>
                  <a:lnTo>
                    <a:pt x="0" y="2238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0099"/>
              </a:blip>
              <a:stretch>
                <a:fillRect l="-64981" t="-34844" r="-59927" b="-3128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494545" y="0"/>
              <a:ext cx="2170766" cy="2569988"/>
            </a:xfrm>
            <a:custGeom>
              <a:avLst/>
              <a:gdLst/>
              <a:ahLst/>
              <a:cxnLst/>
              <a:rect r="r" b="b" t="t" l="l"/>
              <a:pathLst>
                <a:path h="2569988" w="2170766">
                  <a:moveTo>
                    <a:pt x="0" y="0"/>
                  </a:moveTo>
                  <a:lnTo>
                    <a:pt x="2170767" y="0"/>
                  </a:lnTo>
                  <a:lnTo>
                    <a:pt x="2170767" y="2569988"/>
                  </a:lnTo>
                  <a:lnTo>
                    <a:pt x="0" y="2569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0099"/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32733" y="691256"/>
              <a:ext cx="5636194" cy="3757463"/>
            </a:xfrm>
            <a:custGeom>
              <a:avLst/>
              <a:gdLst/>
              <a:ahLst/>
              <a:cxnLst/>
              <a:rect r="r" b="b" t="t" l="l"/>
              <a:pathLst>
                <a:path h="3757463" w="5636194">
                  <a:moveTo>
                    <a:pt x="0" y="0"/>
                  </a:moveTo>
                  <a:lnTo>
                    <a:pt x="5636194" y="0"/>
                  </a:lnTo>
                  <a:lnTo>
                    <a:pt x="5636194" y="3757463"/>
                  </a:lnTo>
                  <a:lnTo>
                    <a:pt x="0" y="3757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30099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834046" y="4891969"/>
            <a:ext cx="10663609" cy="126454"/>
            <a:chOff x="0" y="0"/>
            <a:chExt cx="4819358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48193585" cy="69850"/>
            </a:xfrm>
            <a:custGeom>
              <a:avLst/>
              <a:gdLst/>
              <a:ahLst/>
              <a:cxnLst/>
              <a:rect r="r" b="b" t="t" l="l"/>
              <a:pathLst>
                <a:path h="69850" w="48193585">
                  <a:moveTo>
                    <a:pt x="47902757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193585" y="69850"/>
                  </a:lnTo>
                  <a:lnTo>
                    <a:pt x="4819358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50227" y="1059545"/>
            <a:ext cx="642350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27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TUJUAN DAN MANFAAT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4001187" y="2486712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0"/>
                </a:lnTo>
                <a:lnTo>
                  <a:pt x="0" y="65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84335" y="2744184"/>
            <a:ext cx="10257630" cy="1289931"/>
            <a:chOff x="0" y="0"/>
            <a:chExt cx="13676839" cy="171990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13676839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BEKERJA DENGAN AUDITORMENGUKUR RPE SECARA OTOMATIS MENGGUNAKAN SENSOR DETAK JANTUNG.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37458"/>
              <a:ext cx="13676839" cy="38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0985" y="2744184"/>
            <a:ext cx="1463471" cy="4693928"/>
            <a:chOff x="0" y="0"/>
            <a:chExt cx="1951295" cy="625857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51295" cy="1951295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2153638"/>
              <a:ext cx="1951295" cy="195129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4307275"/>
              <a:ext cx="1951295" cy="195129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498777" y="498777"/>
              <a:ext cx="953742" cy="953742"/>
            </a:xfrm>
            <a:custGeom>
              <a:avLst/>
              <a:gdLst/>
              <a:ahLst/>
              <a:cxnLst/>
              <a:rect r="r" b="b" t="t" l="l"/>
              <a:pathLst>
                <a:path h="953742" w="953742">
                  <a:moveTo>
                    <a:pt x="0" y="0"/>
                  </a:moveTo>
                  <a:lnTo>
                    <a:pt x="953742" y="0"/>
                  </a:lnTo>
                  <a:lnTo>
                    <a:pt x="953742" y="953742"/>
                  </a:lnTo>
                  <a:lnTo>
                    <a:pt x="0" y="953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1131" y="2690464"/>
              <a:ext cx="1629034" cy="877642"/>
            </a:xfrm>
            <a:custGeom>
              <a:avLst/>
              <a:gdLst/>
              <a:ahLst/>
              <a:cxnLst/>
              <a:rect r="r" b="b" t="t" l="l"/>
              <a:pathLst>
                <a:path h="877642" w="1629034">
                  <a:moveTo>
                    <a:pt x="0" y="0"/>
                  </a:moveTo>
                  <a:lnTo>
                    <a:pt x="1629033" y="0"/>
                  </a:lnTo>
                  <a:lnTo>
                    <a:pt x="1629033" y="877642"/>
                  </a:lnTo>
                  <a:lnTo>
                    <a:pt x="0" y="877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49259" y="4713754"/>
              <a:ext cx="1052776" cy="1138338"/>
            </a:xfrm>
            <a:custGeom>
              <a:avLst/>
              <a:gdLst/>
              <a:ahLst/>
              <a:cxnLst/>
              <a:rect r="r" b="b" t="t" l="l"/>
              <a:pathLst>
                <a:path h="1138338" w="1052776">
                  <a:moveTo>
                    <a:pt x="0" y="0"/>
                  </a:moveTo>
                  <a:lnTo>
                    <a:pt x="1052777" y="0"/>
                  </a:lnTo>
                  <a:lnTo>
                    <a:pt x="1052777" y="1138338"/>
                  </a:lnTo>
                  <a:lnTo>
                    <a:pt x="0" y="113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10800000">
            <a:off x="4001187" y="4006920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1"/>
                </a:lnTo>
                <a:lnTo>
                  <a:pt x="0" y="65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284335" y="4264393"/>
            <a:ext cx="7229807" cy="775581"/>
            <a:chOff x="0" y="0"/>
            <a:chExt cx="9639742" cy="1034108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14300"/>
              <a:ext cx="9639742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ENCEGAH OVERTRAINING PADA ATLET.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51658"/>
              <a:ext cx="9639742" cy="38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10800000">
            <a:off x="4001187" y="5029366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0"/>
                </a:lnTo>
                <a:lnTo>
                  <a:pt x="0" y="65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284335" y="5286838"/>
            <a:ext cx="8357996" cy="1193973"/>
            <a:chOff x="0" y="0"/>
            <a:chExt cx="11143994" cy="1591964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14300"/>
              <a:ext cx="11143994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MENDUKUNG PEMANTAUAN AMAN BAGI LANSIA.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346983"/>
              <a:ext cx="7688163" cy="24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10800000">
            <a:off x="4001187" y="6051811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1"/>
                </a:lnTo>
                <a:lnTo>
                  <a:pt x="0" y="65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4284335" y="6309284"/>
            <a:ext cx="8792658" cy="1193973"/>
            <a:chOff x="0" y="0"/>
            <a:chExt cx="11723544" cy="1591964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114300"/>
              <a:ext cx="11723544" cy="596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ENYEDIAKAN DATA OBJEKTIF UNTUK ANALISIS.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346983"/>
              <a:ext cx="7688163" cy="24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-176241" y="6051811"/>
            <a:ext cx="18640482" cy="5313832"/>
            <a:chOff x="0" y="0"/>
            <a:chExt cx="24853976" cy="70851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0419139" y="-5384702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4"/>
                </a:lnTo>
                <a:lnTo>
                  <a:pt x="0" y="107694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 l="0" t="-7393" r="0" b="-11165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5832926" y="-1995553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5"/>
                </a:lnTo>
                <a:lnTo>
                  <a:pt x="0" y="10769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 l="0" t="-7393" r="0" b="-1116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3834046" y="4891969"/>
            <a:ext cx="10663609" cy="126454"/>
            <a:chOff x="0" y="0"/>
            <a:chExt cx="4819358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48193585" cy="69850"/>
            </a:xfrm>
            <a:custGeom>
              <a:avLst/>
              <a:gdLst/>
              <a:ahLst/>
              <a:cxnLst/>
              <a:rect r="r" b="b" t="t" l="l"/>
              <a:pathLst>
                <a:path h="69850" w="48193585">
                  <a:moveTo>
                    <a:pt x="47902757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48193585" y="69850"/>
                  </a:lnTo>
                  <a:lnTo>
                    <a:pt x="4819358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50227" y="951595"/>
            <a:ext cx="9047576" cy="125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32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SENSOR DAN PERANGKAT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4001187" y="2737882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0"/>
                </a:lnTo>
                <a:lnTo>
                  <a:pt x="0" y="65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67999" y="2967910"/>
            <a:ext cx="10583855" cy="1804281"/>
            <a:chOff x="0" y="0"/>
            <a:chExt cx="14111807" cy="240570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14111807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 S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ENSOR: </a:t>
              </a:r>
              <a:r>
                <a:rPr lang="en-US" sz="2399" spc="127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DETEKSI DETAK JANTUNG REAL-TIME MENGGUNAKAN METODE OPTIK (PPG).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23258"/>
              <a:ext cx="13702023" cy="38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-176241" y="6505036"/>
            <a:ext cx="18640482" cy="5313832"/>
            <a:chOff x="0" y="0"/>
            <a:chExt cx="24853976" cy="70851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0985" y="2744184"/>
            <a:ext cx="1463471" cy="4693928"/>
            <a:chOff x="0" y="0"/>
            <a:chExt cx="1951295" cy="62585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951295" cy="195129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153638"/>
              <a:ext cx="1951295" cy="195129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4307275"/>
              <a:ext cx="1951295" cy="195129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86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498777" y="498777"/>
              <a:ext cx="953742" cy="953742"/>
            </a:xfrm>
            <a:custGeom>
              <a:avLst/>
              <a:gdLst/>
              <a:ahLst/>
              <a:cxnLst/>
              <a:rect r="r" b="b" t="t" l="l"/>
              <a:pathLst>
                <a:path h="953742" w="953742">
                  <a:moveTo>
                    <a:pt x="0" y="0"/>
                  </a:moveTo>
                  <a:lnTo>
                    <a:pt x="953742" y="0"/>
                  </a:lnTo>
                  <a:lnTo>
                    <a:pt x="953742" y="953742"/>
                  </a:lnTo>
                  <a:lnTo>
                    <a:pt x="0" y="953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61131" y="2690464"/>
              <a:ext cx="1629034" cy="877642"/>
            </a:xfrm>
            <a:custGeom>
              <a:avLst/>
              <a:gdLst/>
              <a:ahLst/>
              <a:cxnLst/>
              <a:rect r="r" b="b" t="t" l="l"/>
              <a:pathLst>
                <a:path h="877642" w="1629034">
                  <a:moveTo>
                    <a:pt x="0" y="0"/>
                  </a:moveTo>
                  <a:lnTo>
                    <a:pt x="1629033" y="0"/>
                  </a:lnTo>
                  <a:lnTo>
                    <a:pt x="1629033" y="877642"/>
                  </a:lnTo>
                  <a:lnTo>
                    <a:pt x="0" y="877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49259" y="4713754"/>
              <a:ext cx="1052776" cy="1138338"/>
            </a:xfrm>
            <a:custGeom>
              <a:avLst/>
              <a:gdLst/>
              <a:ahLst/>
              <a:cxnLst/>
              <a:rect r="r" b="b" t="t" l="l"/>
              <a:pathLst>
                <a:path h="1138338" w="1052776">
                  <a:moveTo>
                    <a:pt x="0" y="0"/>
                  </a:moveTo>
                  <a:lnTo>
                    <a:pt x="1052777" y="0"/>
                  </a:lnTo>
                  <a:lnTo>
                    <a:pt x="1052777" y="1138338"/>
                  </a:lnTo>
                  <a:lnTo>
                    <a:pt x="0" y="113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-10800000">
            <a:off x="4001187" y="3922252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1"/>
                </a:lnTo>
                <a:lnTo>
                  <a:pt x="0" y="65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267999" y="4167355"/>
            <a:ext cx="10583855" cy="1804281"/>
            <a:chOff x="0" y="0"/>
            <a:chExt cx="14111807" cy="2405708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14300"/>
              <a:ext cx="14111807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KONVERSI DATA: </a:t>
              </a:r>
              <a:r>
                <a:rPr lang="en-US" sz="2399" spc="127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MENGOLAH SINYAL ANALOG MENJADI NILAI BPM DAN KALKULASI STATUS RPE.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023258"/>
              <a:ext cx="9639742" cy="382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10800000">
            <a:off x="4001187" y="5029366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0"/>
                </a:lnTo>
                <a:lnTo>
                  <a:pt x="0" y="65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267999" y="5305591"/>
            <a:ext cx="10583855" cy="1707081"/>
            <a:chOff x="0" y="0"/>
            <a:chExt cx="14111807" cy="2276108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14300"/>
              <a:ext cx="14111807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LO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GIKA PERINGATAN: </a:t>
              </a:r>
              <a:r>
                <a:rPr lang="en-US" sz="2399" spc="127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AKTIVASI OTOMATIS BUZZER &amp; LED PADA ZONA BAHAYA (&gt;135 BPM)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2032783"/>
              <a:ext cx="8867688" cy="24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5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10800000">
            <a:off x="4001187" y="6228811"/>
            <a:ext cx="650970" cy="650970"/>
          </a:xfrm>
          <a:custGeom>
            <a:avLst/>
            <a:gdLst/>
            <a:ahLst/>
            <a:cxnLst/>
            <a:rect r="r" b="b" t="t" l="l"/>
            <a:pathLst>
              <a:path h="650970" w="650970">
                <a:moveTo>
                  <a:pt x="0" y="0"/>
                </a:moveTo>
                <a:lnTo>
                  <a:pt x="650970" y="0"/>
                </a:lnTo>
                <a:lnTo>
                  <a:pt x="650970" y="650971"/>
                </a:lnTo>
                <a:lnTo>
                  <a:pt x="0" y="65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267999" y="6499894"/>
            <a:ext cx="10583855" cy="1707081"/>
            <a:chOff x="0" y="0"/>
            <a:chExt cx="14111807" cy="2276108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114300"/>
              <a:ext cx="14111807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TR</a:t>
              </a:r>
              <a:r>
                <a:rPr lang="en-US" b="true" sz="2399" spc="12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ANSMISI IOT: </a:t>
              </a:r>
              <a:r>
                <a:rPr lang="en-US" sz="2399" spc="127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KIRIM DATA KE WEB SERVER LOKAL VIA HTTP POST SETIAP 5 DETIK.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2032783"/>
              <a:ext cx="8104461" cy="243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55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419139" y="-5384702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4"/>
                </a:lnTo>
                <a:lnTo>
                  <a:pt x="0" y="107694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 l="0" t="-7393" r="0" b="-11165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5832926" y="-1995553"/>
            <a:ext cx="12768124" cy="10769404"/>
          </a:xfrm>
          <a:custGeom>
            <a:avLst/>
            <a:gdLst/>
            <a:ahLst/>
            <a:cxnLst/>
            <a:rect r="r" b="b" t="t" l="l"/>
            <a:pathLst>
              <a:path h="10769404" w="12768124">
                <a:moveTo>
                  <a:pt x="0" y="0"/>
                </a:moveTo>
                <a:lnTo>
                  <a:pt x="12768124" y="0"/>
                </a:lnTo>
                <a:lnTo>
                  <a:pt x="12768124" y="10769405"/>
                </a:lnTo>
                <a:lnTo>
                  <a:pt x="0" y="107694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 l="0" t="-7393" r="0" b="-11165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970740" y="7105582"/>
            <a:ext cx="8346519" cy="3336539"/>
            <a:chOff x="0" y="0"/>
            <a:chExt cx="11128692" cy="44487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1029020"/>
              <a:ext cx="2103461" cy="2238718"/>
            </a:xfrm>
            <a:custGeom>
              <a:avLst/>
              <a:gdLst/>
              <a:ahLst/>
              <a:cxnLst/>
              <a:rect r="r" b="b" t="t" l="l"/>
              <a:pathLst>
                <a:path h="2238718" w="2103461">
                  <a:moveTo>
                    <a:pt x="0" y="0"/>
                  </a:moveTo>
                  <a:lnTo>
                    <a:pt x="2103461" y="0"/>
                  </a:lnTo>
                  <a:lnTo>
                    <a:pt x="2103461" y="2238718"/>
                  </a:lnTo>
                  <a:lnTo>
                    <a:pt x="0" y="2238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30099"/>
              </a:blip>
              <a:stretch>
                <a:fillRect l="-64981" t="-30941" r="-59927" b="-27549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9057784" y="0"/>
              <a:ext cx="2070908" cy="2569988"/>
            </a:xfrm>
            <a:custGeom>
              <a:avLst/>
              <a:gdLst/>
              <a:ahLst/>
              <a:cxnLst/>
              <a:rect r="r" b="b" t="t" l="l"/>
              <a:pathLst>
                <a:path h="2569988" w="2070908">
                  <a:moveTo>
                    <a:pt x="0" y="0"/>
                  </a:moveTo>
                  <a:lnTo>
                    <a:pt x="2070908" y="0"/>
                  </a:lnTo>
                  <a:lnTo>
                    <a:pt x="2070908" y="2569988"/>
                  </a:lnTo>
                  <a:lnTo>
                    <a:pt x="0" y="2569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0099"/>
              </a:blip>
              <a:stretch>
                <a:fillRect l="-2410" t="0" r="-241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893223" y="691256"/>
              <a:ext cx="5376922" cy="3757463"/>
            </a:xfrm>
            <a:custGeom>
              <a:avLst/>
              <a:gdLst/>
              <a:ahLst/>
              <a:cxnLst/>
              <a:rect r="r" b="b" t="t" l="l"/>
              <a:pathLst>
                <a:path h="3757463" w="5376922">
                  <a:moveTo>
                    <a:pt x="0" y="0"/>
                  </a:moveTo>
                  <a:lnTo>
                    <a:pt x="5376922" y="0"/>
                  </a:lnTo>
                  <a:lnTo>
                    <a:pt x="5376922" y="3757463"/>
                  </a:lnTo>
                  <a:lnTo>
                    <a:pt x="0" y="3757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30099"/>
              </a:blip>
              <a:stretch>
                <a:fillRect l="-2410" t="0" r="-241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741145" cy="10287000"/>
            <a:chOff x="0" y="0"/>
            <a:chExt cx="2232152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05527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 rot="0">
              <a:off x="0" y="0"/>
              <a:ext cx="8618227" cy="13716000"/>
            </a:xfrm>
            <a:prstGeom prst="rect">
              <a:avLst/>
            </a:prstGeom>
            <a:solidFill>
              <a:srgbClr val="004AAD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30117" y="1318691"/>
            <a:ext cx="830494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275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CARA KERJA SISTEM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233" y="4925620"/>
            <a:ext cx="3842561" cy="223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Input &amp; Pemrosesan Sinyal Sistem menggunakan Pulse Sensor untuk mendeteksi detak jantung pengguna melalui sinyal analog. Mikrokontroler ESP32 mengolah sinyal tersebut untuk menghasilkan nilai BPM (Beats Per Minute) secara real-time.</a:t>
            </a:r>
          </a:p>
        </p:txBody>
      </p:sp>
      <p:grpSp>
        <p:nvGrpSpPr>
          <p:cNvPr name="Group 7" id="7"/>
          <p:cNvGrpSpPr/>
          <p:nvPr/>
        </p:nvGrpSpPr>
        <p:grpSpPr>
          <a:xfrm rot="-10800000">
            <a:off x="-176241" y="6051811"/>
            <a:ext cx="18640482" cy="5313832"/>
            <a:chOff x="0" y="0"/>
            <a:chExt cx="24853976" cy="7085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30117" y="1989094"/>
            <a:ext cx="6257784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600" spc="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600" spc="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ensor membaca gerakan dan detak, data dikirim ke ESP32, diproses menjadi nilai RPE, lalu dikirim ke database dan ditampilkan di Web.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03286" y="3234723"/>
            <a:ext cx="1434456" cy="14344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8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64423" y="3738729"/>
            <a:ext cx="912181" cy="426445"/>
          </a:xfrm>
          <a:custGeom>
            <a:avLst/>
            <a:gdLst/>
            <a:ahLst/>
            <a:cxnLst/>
            <a:rect r="r" b="b" t="t" l="l"/>
            <a:pathLst>
              <a:path h="426445" w="912181">
                <a:moveTo>
                  <a:pt x="0" y="0"/>
                </a:moveTo>
                <a:lnTo>
                  <a:pt x="912182" y="0"/>
                </a:lnTo>
                <a:lnTo>
                  <a:pt x="912182" y="426444"/>
                </a:lnTo>
                <a:lnTo>
                  <a:pt x="0" y="4264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185610" y="3234723"/>
            <a:ext cx="1434456" cy="143445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8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518874" y="3583346"/>
            <a:ext cx="767928" cy="737210"/>
          </a:xfrm>
          <a:custGeom>
            <a:avLst/>
            <a:gdLst/>
            <a:ahLst/>
            <a:cxnLst/>
            <a:rect r="r" b="b" t="t" l="l"/>
            <a:pathLst>
              <a:path h="737210" w="767928">
                <a:moveTo>
                  <a:pt x="0" y="0"/>
                </a:moveTo>
                <a:lnTo>
                  <a:pt x="767928" y="0"/>
                </a:lnTo>
                <a:lnTo>
                  <a:pt x="767928" y="737210"/>
                </a:lnTo>
                <a:lnTo>
                  <a:pt x="0" y="7372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667934" y="3234723"/>
            <a:ext cx="1434456" cy="14344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86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001198" y="3583346"/>
            <a:ext cx="772960" cy="737210"/>
          </a:xfrm>
          <a:custGeom>
            <a:avLst/>
            <a:gdLst/>
            <a:ahLst/>
            <a:cxnLst/>
            <a:rect r="r" b="b" t="t" l="l"/>
            <a:pathLst>
              <a:path h="737210" w="772960">
                <a:moveTo>
                  <a:pt x="0" y="0"/>
                </a:moveTo>
                <a:lnTo>
                  <a:pt x="772960" y="0"/>
                </a:lnTo>
                <a:lnTo>
                  <a:pt x="772960" y="737210"/>
                </a:lnTo>
                <a:lnTo>
                  <a:pt x="0" y="737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150258" y="3234723"/>
            <a:ext cx="1434456" cy="143445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8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449975" y="3619976"/>
            <a:ext cx="840054" cy="663949"/>
          </a:xfrm>
          <a:custGeom>
            <a:avLst/>
            <a:gdLst/>
            <a:ahLst/>
            <a:cxnLst/>
            <a:rect r="r" b="b" t="t" l="l"/>
            <a:pathLst>
              <a:path h="663949" w="840054">
                <a:moveTo>
                  <a:pt x="0" y="0"/>
                </a:moveTo>
                <a:lnTo>
                  <a:pt x="840054" y="0"/>
                </a:lnTo>
                <a:lnTo>
                  <a:pt x="840054" y="663950"/>
                </a:lnTo>
                <a:lnTo>
                  <a:pt x="0" y="663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981557" y="4925620"/>
            <a:ext cx="3842561" cy="272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RPE 1-3 (Ringan)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Rentang: BPM &lt; 90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Status: Aktivitas santai atau istirahat.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RPE 5 (Sedang)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Rentang: BPM 90 - 110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Status: Aktivitas normal, nafas mulai cepat.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466398" y="4925620"/>
            <a:ext cx="3842561" cy="248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RPE 7-8 (Berat)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Rentang: BPM 110 - 135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Status: Latihan intensif, mulai sulit berbicara.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RPE 9 (Maksimal)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Rentang: BPM &gt; 135</a:t>
            </a:r>
          </a:p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Status: Kelelahan ekstrem. Indikator Bahaya Aktif.</a:t>
            </a:r>
          </a:p>
          <a:p>
            <a:pPr algn="l">
              <a:lnSpc>
                <a:spcPts val="195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948722" y="4925620"/>
            <a:ext cx="3842561" cy="198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503" spc="7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Output &amp; Monitoring Hasil analisis dideteksi langsung pada LED dan Buzzer dan dikirim ke aplikasi Blynk via WiFi. Jika sistem mendeteksi kondisi RPE 9 (Maksimal), LED Indikator akan menyala sebagai peringatan keselamatan.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741145" cy="10287000"/>
            <a:chOff x="0" y="0"/>
            <a:chExt cx="2232152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05527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 rot="0">
              <a:off x="0" y="0"/>
              <a:ext cx="8618227" cy="13716000"/>
            </a:xfrm>
            <a:prstGeom prst="rect">
              <a:avLst/>
            </a:prstGeom>
            <a:solidFill>
              <a:srgbClr val="004AAD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690562"/>
            <a:ext cx="13875061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31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</a:t>
            </a:r>
            <a:r>
              <a:rPr lang="en-US" sz="3399" spc="31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RSITEKTUR SISTEM / BLOK DIAGRAM</a:t>
            </a:r>
          </a:p>
        </p:txBody>
      </p:sp>
      <p:grpSp>
        <p:nvGrpSpPr>
          <p:cNvPr name="Group 6" id="6"/>
          <p:cNvGrpSpPr/>
          <p:nvPr/>
        </p:nvGrpSpPr>
        <p:grpSpPr>
          <a:xfrm rot="-10800000">
            <a:off x="-176241" y="6051811"/>
            <a:ext cx="18640482" cy="5313832"/>
            <a:chOff x="0" y="0"/>
            <a:chExt cx="24853976" cy="70851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700370" y="1546602"/>
            <a:ext cx="8887259" cy="8320697"/>
          </a:xfrm>
          <a:custGeom>
            <a:avLst/>
            <a:gdLst/>
            <a:ahLst/>
            <a:cxnLst/>
            <a:rect r="r" b="b" t="t" l="l"/>
            <a:pathLst>
              <a:path h="8320697" w="8887259">
                <a:moveTo>
                  <a:pt x="0" y="0"/>
                </a:moveTo>
                <a:lnTo>
                  <a:pt x="8887260" y="0"/>
                </a:lnTo>
                <a:lnTo>
                  <a:pt x="8887260" y="8320697"/>
                </a:lnTo>
                <a:lnTo>
                  <a:pt x="0" y="8320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741145" cy="10287000"/>
            <a:chOff x="0" y="0"/>
            <a:chExt cx="2232152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605527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 rot="0">
              <a:off x="0" y="0"/>
              <a:ext cx="8618227" cy="13716000"/>
            </a:xfrm>
            <a:prstGeom prst="rect">
              <a:avLst/>
            </a:prstGeom>
            <a:solidFill>
              <a:srgbClr val="004AA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352482" y="6570683"/>
            <a:ext cx="18640482" cy="5313832"/>
            <a:chOff x="0" y="0"/>
            <a:chExt cx="24853976" cy="7085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757497"/>
            <a:ext cx="7584570" cy="2615646"/>
          </a:xfrm>
          <a:custGeom>
            <a:avLst/>
            <a:gdLst/>
            <a:ahLst/>
            <a:cxnLst/>
            <a:rect r="r" b="b" t="t" l="l"/>
            <a:pathLst>
              <a:path h="2615646" w="7584570">
                <a:moveTo>
                  <a:pt x="0" y="0"/>
                </a:moveTo>
                <a:lnTo>
                  <a:pt x="7584570" y="0"/>
                </a:lnTo>
                <a:lnTo>
                  <a:pt x="7584570" y="2615646"/>
                </a:lnTo>
                <a:lnTo>
                  <a:pt x="0" y="2615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00" b="-11755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64469" y="4382668"/>
            <a:ext cx="5548802" cy="3008387"/>
          </a:xfrm>
          <a:custGeom>
            <a:avLst/>
            <a:gdLst/>
            <a:ahLst/>
            <a:cxnLst/>
            <a:rect r="r" b="b" t="t" l="l"/>
            <a:pathLst>
              <a:path h="3008387" w="5548802">
                <a:moveTo>
                  <a:pt x="0" y="0"/>
                </a:moveTo>
                <a:lnTo>
                  <a:pt x="5548801" y="0"/>
                </a:lnTo>
                <a:lnTo>
                  <a:pt x="5548801" y="3008386"/>
                </a:lnTo>
                <a:lnTo>
                  <a:pt x="0" y="3008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70740" y="7324859"/>
            <a:ext cx="8346519" cy="3336539"/>
            <a:chOff x="0" y="0"/>
            <a:chExt cx="11128692" cy="4448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029020"/>
              <a:ext cx="2103461" cy="2238718"/>
            </a:xfrm>
            <a:custGeom>
              <a:avLst/>
              <a:gdLst/>
              <a:ahLst/>
              <a:cxnLst/>
              <a:rect r="r" b="b" t="t" l="l"/>
              <a:pathLst>
                <a:path h="2238718" w="2103461">
                  <a:moveTo>
                    <a:pt x="0" y="0"/>
                  </a:moveTo>
                  <a:lnTo>
                    <a:pt x="2103461" y="0"/>
                  </a:lnTo>
                  <a:lnTo>
                    <a:pt x="2103461" y="2238718"/>
                  </a:lnTo>
                  <a:lnTo>
                    <a:pt x="0" y="2238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0099"/>
              </a:blip>
              <a:stretch>
                <a:fillRect l="-64981" t="-30941" r="-59927" b="-2754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057784" y="0"/>
              <a:ext cx="2070908" cy="2569988"/>
            </a:xfrm>
            <a:custGeom>
              <a:avLst/>
              <a:gdLst/>
              <a:ahLst/>
              <a:cxnLst/>
              <a:rect r="r" b="b" t="t" l="l"/>
              <a:pathLst>
                <a:path h="2569988" w="2070908">
                  <a:moveTo>
                    <a:pt x="0" y="0"/>
                  </a:moveTo>
                  <a:lnTo>
                    <a:pt x="2070908" y="0"/>
                  </a:lnTo>
                  <a:lnTo>
                    <a:pt x="2070908" y="2569988"/>
                  </a:lnTo>
                  <a:lnTo>
                    <a:pt x="0" y="2569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30099"/>
              </a:blip>
              <a:stretch>
                <a:fillRect l="-2410" t="0" r="-241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893223" y="691256"/>
              <a:ext cx="5376922" cy="3757463"/>
            </a:xfrm>
            <a:custGeom>
              <a:avLst/>
              <a:gdLst/>
              <a:ahLst/>
              <a:cxnLst/>
              <a:rect r="r" b="b" t="t" l="l"/>
              <a:pathLst>
                <a:path h="3757463" w="5376922">
                  <a:moveTo>
                    <a:pt x="0" y="0"/>
                  </a:moveTo>
                  <a:lnTo>
                    <a:pt x="5376922" y="0"/>
                  </a:lnTo>
                  <a:lnTo>
                    <a:pt x="5376922" y="3757463"/>
                  </a:lnTo>
                  <a:lnTo>
                    <a:pt x="0" y="3757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0099"/>
              </a:blip>
              <a:stretch>
                <a:fillRect l="-2410" t="0" r="-241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4035290" y="6172611"/>
            <a:ext cx="9320241" cy="5242636"/>
          </a:xfrm>
          <a:custGeom>
            <a:avLst/>
            <a:gdLst/>
            <a:ahLst/>
            <a:cxnLst/>
            <a:rect r="r" b="b" t="t" l="l"/>
            <a:pathLst>
              <a:path h="5242636" w="9320241">
                <a:moveTo>
                  <a:pt x="0" y="0"/>
                </a:moveTo>
                <a:lnTo>
                  <a:pt x="9320241" y="0"/>
                </a:lnTo>
                <a:lnTo>
                  <a:pt x="9320241" y="5242636"/>
                </a:lnTo>
                <a:lnTo>
                  <a:pt x="0" y="5242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95411" y="1768661"/>
            <a:ext cx="8563889" cy="4506747"/>
          </a:xfrm>
          <a:custGeom>
            <a:avLst/>
            <a:gdLst/>
            <a:ahLst/>
            <a:cxnLst/>
            <a:rect r="r" b="b" t="t" l="l"/>
            <a:pathLst>
              <a:path h="4506747" w="8563889">
                <a:moveTo>
                  <a:pt x="0" y="0"/>
                </a:moveTo>
                <a:lnTo>
                  <a:pt x="8563889" y="0"/>
                </a:lnTo>
                <a:lnTo>
                  <a:pt x="8563889" y="4506747"/>
                </a:lnTo>
                <a:lnTo>
                  <a:pt x="0" y="4506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838200"/>
            <a:ext cx="13875061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spc="31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DATABA</a:t>
            </a:r>
            <a:r>
              <a:rPr lang="en-US" sz="3399" spc="312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SE DAN OUTPUT BLYNK/WEB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9490997"/>
            <a:chOff x="0" y="0"/>
            <a:chExt cx="24384000" cy="25987996"/>
          </a:xfrm>
        </p:grpSpPr>
        <p:sp>
          <p:nvSpPr>
            <p:cNvPr name="Freeform 3" id="3"/>
            <p:cNvSpPr/>
            <p:nvPr/>
          </p:nvSpPr>
          <p:spPr>
            <a:xfrm flipH="false" flipV="false" rot="5400000">
              <a:off x="0" y="1603996"/>
              <a:ext cx="24384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4" id="4"/>
            <p:cNvSpPr/>
            <p:nvPr/>
          </p:nvSpPr>
          <p:spPr>
            <a:xfrm rot="0">
              <a:off x="0" y="0"/>
              <a:ext cx="24384000" cy="1616696"/>
            </a:xfrm>
            <a:prstGeom prst="rect">
              <a:avLst/>
            </a:prstGeom>
            <a:solidFill>
              <a:srgbClr val="004AAD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33912" y="3585710"/>
            <a:ext cx="8820176" cy="2867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0"/>
              </a:lnSpc>
            </a:pPr>
            <a:r>
              <a:rPr lang="en-US" sz="7979" spc="73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TERIMA KASIH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76241" y="-358636"/>
            <a:ext cx="18640482" cy="5313832"/>
            <a:chOff x="0" y="0"/>
            <a:chExt cx="24853976" cy="70851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176241" y="6760149"/>
            <a:ext cx="18640482" cy="5313832"/>
            <a:chOff x="0" y="0"/>
            <a:chExt cx="24853976" cy="70851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5750" cy="7085109"/>
            </a:xfrm>
            <a:custGeom>
              <a:avLst/>
              <a:gdLst/>
              <a:ahLst/>
              <a:cxnLst/>
              <a:rect r="r" b="b" t="t" l="l"/>
              <a:pathLst>
                <a:path h="7085109" w="12595750">
                  <a:moveTo>
                    <a:pt x="0" y="0"/>
                  </a:moveTo>
                  <a:lnTo>
                    <a:pt x="12595750" y="0"/>
                  </a:lnTo>
                  <a:lnTo>
                    <a:pt x="12595750" y="7085109"/>
                  </a:lnTo>
                  <a:lnTo>
                    <a:pt x="0" y="7085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426988" y="0"/>
              <a:ext cx="12426988" cy="6990181"/>
            </a:xfrm>
            <a:custGeom>
              <a:avLst/>
              <a:gdLst/>
              <a:ahLst/>
              <a:cxnLst/>
              <a:rect r="r" b="b" t="t" l="l"/>
              <a:pathLst>
                <a:path h="6990181" w="12426988">
                  <a:moveTo>
                    <a:pt x="0" y="0"/>
                  </a:moveTo>
                  <a:lnTo>
                    <a:pt x="12426988" y="0"/>
                  </a:lnTo>
                  <a:lnTo>
                    <a:pt x="12426988" y="6990181"/>
                  </a:lnTo>
                  <a:lnTo>
                    <a:pt x="0" y="6990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DAG8IN1h5Uk</dc:identifier>
  <dcterms:modified xsi:type="dcterms:W3CDTF">2011-08-01T06:04:30Z</dcterms:modified>
  <cp:revision>1</cp:revision>
  <dc:title>SISTEM PENDETEKSI RPE TENAGA MANUSIA BERBASIS IoT</dc:title>
</cp:coreProperties>
</file>